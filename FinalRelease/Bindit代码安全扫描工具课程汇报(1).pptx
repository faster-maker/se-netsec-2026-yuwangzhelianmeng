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、同学，大家好！我们团队本次课程项目的主题是“Bindit代码安全扫描工具”。这是一款基于Python和AST语法树分析的自动化安全检测工具，旨在帮助开发者快速发现代码中的敏感信息泄露等高危漏洞。接下来，我将从需求、技术、测试等多个方面，向大家详细汇报我们的项目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本次汇报将围绕六个核心部分展开。首先，我会介绍项目的需求背景与创意来源；其次，阐述我们所采用的开发技术与工具；接着，展示代码的组织结构与测试情况；然后，演示系统的部署与运行效果；之后，介绍团队成员的分工与贡献；最后，对本次项目进行总结并对未来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我们项目的初衷源于一个普遍存在的安全问题：代码中的硬编码密钥和密码泄露。这是OWASP Top 10中的高危漏洞，一旦泄露，后果不堪设想。我们的核心功能就是开发一款工具，能够自动扫描代码，精准定位这些敏感信息。我们的创意点在于，让工具使用起来非常简单，无需学习成本，同时提供彩色的终端输出和自动保存的报告，极大地提升了开发者的体验和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最小可行产品（MVP）已经实现了所有核心功能。用户可以轻松地扫描单个文件、多个文件甚至整个目录。扫描结果不仅会在终端以彩色形式直观展示，还会自动保存为一份详细的报告。我们还加入了性能评估功能，让用户了解扫描效率。从用户角度看，只要工具能准确找到漏洞、给出清晰的报告，并且稳定运行，就满足了验收条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在技术选型上，我们主要使用Python语言进行开发。项目的核心技术是AST，也就是抽象语法树分析。通过解析代码的语法结构，我们能够更精准、更高效地定位硬编码的敏感信息。开发过程中，我们使用了VS Code作为编辑器，Git和GitHub进行版本控制。测试方面，我们采用了pytest框架来编写和运行单元测试，确保了代码的质量和稳定性。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我们的代码组织结构清晰，分为命令行入口、扫描核心、规则定义和数据模型等模块，将业务逻辑与展示逻辑解耦。在代码量上，我们独立编写的核心代码约500行，保证了代码的轻量与易维护，同时复用了Bandit库的成熟AST解析能力，提升了开发效率。在团队协作方面，我们严格执行PEP8编码规范，并配置了.editorconfig文件，确保所有成员在不同的开发环境下都能产出风格统一、高可读性的代码，降低了后期维护成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为了保证软件质量，我们进行了全面的单元测试和确认测试。我们使用pytest框架，设计了5个核心测试用例，覆盖了文件扫描、漏洞检测、风险等级分类、异常处理和多文件扫描等关键场景。测试结果非常理想，所有用例全部通过，这表明我们的扫描器功能稳定、逻辑正确。测试过程采用自动化脚本执行，接下来我可以给大家演示一下具体的测试命令和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部署非常简单，因为它是一个纯Python项目，不需要复杂的服务器环境。用户只需要安装Python和项目依赖，就可以在本地直接运行。部署过程就是下载代码、安装依赖两步。运行时，用户只需在命令行输入简单的扫描命令，系统就会自动完成扫描，并展示结果。现在我给大家演示一下实际运行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团队协作方面，我们分工明确。作为组长，我主要负责项目的整体架构和核心功能的开发。组员一主要负责辅助开发和功能测试，确保了代码的正确性。组员二则承担了大量的文档编写和报告整理工作，保证了项目的完整性。通过每日站会和代码评审，我们高效地完成了所有任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本次项目，我们不仅成功开发了一款实用的安全工具，更重要的是在技术和团队协作上都收获满满。我们学会了如何分析和解决实际问题。当然，过程中也遇到过困难，但都一一克服了。展望未来，我们希望能将这个工具做得更强大，比如支持更多编程语言，开发图形界面，甚至集成到CI/CD流程中，实现自动化安全检测。我的汇报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660900"/>
            <a:ext cx="9156700" cy="12700"/>
          </a:xfrm>
          <a:prstGeom prst="rtTriangle">
            <a:avLst/>
          </a:prstGeom>
          <a:gradFill rotWithShape="1">
            <a:gsLst>
              <a:gs pos="0">
                <a:srgbClr val="00728E">
                  <a:alpha val="100000"/>
                </a:srgbClr>
              </a:gs>
              <a:gs pos="55000">
                <a:srgbClr val="4ABBE0">
                  <a:alpha val="100000"/>
                </a:srgbClr>
              </a:gs>
              <a:gs pos="100000">
                <a:srgbClr val="00728E">
                  <a:alpha val="100000"/>
                </a:srgbClr>
              </a:gs>
            </a:gsLst>
            <a:lin ang="30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689100" y="4953000"/>
            <a:ext cx="7456488" cy="488154"/>
          </a:xfrm>
          <a:custGeom>
            <a:avLst/>
            <a:gdLst/>
            <a:ahLst/>
            <a:cxnLst/>
            <a:rect l="l" t="t" r="r" b="b"/>
            <a:pathLst>
              <a:path w="7456488" h="488154">
                <a:moveTo>
                  <a:pt x="7456488" y="0"/>
                </a:moveTo>
                <a:lnTo>
                  <a:pt x="7456488" y="488154"/>
                </a:lnTo>
                <a:lnTo>
                  <a:pt x="0" y="289966"/>
                </a:lnTo>
                <a:lnTo>
                  <a:pt x="7456488" y="0"/>
                </a:lnTo>
                <a:close/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8100" y="5232400"/>
            <a:ext cx="9108557" cy="788662"/>
          </a:xfrm>
          <a:custGeom>
            <a:avLst/>
            <a:gdLst/>
            <a:ahLst/>
            <a:cxnLst/>
            <a:rect l="l" t="t" r="r" b="b"/>
            <a:pathLst>
              <a:path w="9108557" h="788662">
                <a:moveTo>
                  <a:pt x="0" y="0"/>
                </a:moveTo>
                <a:lnTo>
                  <a:pt x="9108557" y="0"/>
                </a:lnTo>
                <a:lnTo>
                  <a:pt x="9108557" y="788662"/>
                </a:lnTo>
                <a:lnTo>
                  <a:pt x="75904" y="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499" b="499"/>
          <a:stretch>
            <a:fillRect/>
          </a:stretch>
        </p:blipFill>
        <p:spPr>
          <a:xfrm>
            <a:off x="0" y="5003800"/>
            <a:ext cx="9144000" cy="1866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290542">
            <a:off x="-16915" y="5391150"/>
            <a:ext cx="917783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09600" y="1346200"/>
            <a:ext cx="7772400" cy="172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ctr">
              <a:lnSpc>
                <a:spcPct val="150000"/>
              </a:lnSpc>
              <a:defRPr/>
            </a:pPr>
            <a:r>
              <a:rPr lang="en-US" sz="2900" b="1" i="0" u="none" strike="noStrike" dirty="0" err="1" smtClean="0">
                <a:solidFill>
                  <a:srgbClr val="000000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软件工程课程</a:t>
            </a:r>
            <a:r>
              <a:rPr lang="zh-CN" altLang="en-US" sz="2900" b="1" i="0" u="none" strike="noStrike" smtClean="0">
                <a:solidFill>
                  <a:srgbClr val="000000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总结</a:t>
            </a:r>
            <a:r>
              <a:rPr lang="en-US" sz="2900" b="1" i="0" u="none" strike="noStrike" smtClean="0">
                <a:solidFill>
                  <a:srgbClr val="000000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汇报</a:t>
            </a:r>
            <a:r>
              <a:rPr lang="en-US" sz="2900" b="1" i="0" u="none" strike="noStrike" dirty="0">
                <a:solidFill>
                  <a:srgbClr val="000000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2900" b="1" i="0" u="none" strike="noStrike" dirty="0">
                <a:solidFill>
                  <a:srgbClr val="000000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4000" b="1" i="0" u="none" strike="noStrike" dirty="0">
                <a:solidFill>
                  <a:srgbClr val="C00000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“</a:t>
            </a:r>
            <a:r>
              <a:rPr lang="en-US" sz="4000" b="1" i="0" u="none" strike="noStrike" dirty="0" err="1">
                <a:solidFill>
                  <a:srgbClr val="C00000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Bindit代码安全扫描工具</a:t>
            </a:r>
            <a:r>
              <a:rPr lang="en-US" sz="4000" b="1" i="0" u="none" strike="noStrike" dirty="0">
                <a:solidFill>
                  <a:srgbClr val="C00000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”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587500" y="3429000"/>
            <a:ext cx="6121400" cy="1587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t" anchorCtr="0"/>
          <a:lstStyle/>
          <a:p>
            <a:pPr indent="0" algn="ctr">
              <a:lnSpc>
                <a:spcPct val="116666"/>
              </a:lnSpc>
              <a:spcBef>
                <a:spcPts val="400"/>
              </a:spcBef>
              <a:defRPr/>
            </a:pPr>
            <a:r>
              <a:rPr lang="en-US" sz="2400" b="1" i="0" u="none" strike="noStrike" dirty="0" err="1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组长</a:t>
            </a:r>
            <a:r>
              <a:rPr lang="en-US" sz="2400" b="1" i="0" u="none" strike="noStrike" dirty="0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2400" b="1" i="0" u="none" strike="noStrike" dirty="0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陈卓</a:t>
            </a:r>
            <a:endParaRPr lang="en-US" sz="1100" dirty="0"/>
          </a:p>
          <a:p>
            <a:pPr indent="0" algn="ctr">
              <a:lnSpc>
                <a:spcPct val="116666"/>
              </a:lnSpc>
              <a:spcBef>
                <a:spcPts val="400"/>
              </a:spcBef>
            </a:pPr>
            <a:r>
              <a:rPr lang="en-US" sz="2400" b="1" i="0" u="none" strike="noStrike" dirty="0" err="1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项目团队成员</a:t>
            </a:r>
            <a:r>
              <a:rPr lang="en-US" sz="2400" b="1" i="0" u="none" strike="noStrike" dirty="0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2400" b="1" dirty="0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赵玉迪、宾海燕</a:t>
            </a:r>
            <a:endParaRPr lang="en-US" sz="2400" b="1" i="0" u="none" strike="noStrike" dirty="0">
              <a:solidFill>
                <a:srgbClr val="0D0D0D"/>
              </a:solidFill>
              <a:effectLst>
                <a:outerShdw blurRad="38100" dist="25400" dir="5400000" algn="tl" rotWithShape="0">
                  <a:srgbClr val="000000">
                    <a:alpha val="25000"/>
                  </a:srgbClr>
                </a:outerShdw>
              </a:effectLst>
              <a:latin typeface="微软雅黑"/>
              <a:ea typeface="微软雅黑"/>
              <a:cs typeface="微软雅黑"/>
              <a:sym typeface="微软雅黑"/>
            </a:endParaRPr>
          </a:p>
          <a:p>
            <a:pPr indent="0" algn="ctr">
              <a:lnSpc>
                <a:spcPct val="116666"/>
              </a:lnSpc>
              <a:spcBef>
                <a:spcPts val="400"/>
              </a:spcBef>
            </a:pPr>
            <a:r>
              <a:rPr lang="en-US" sz="2400" b="1" i="0" u="none" strike="noStrike" dirty="0" err="1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团队地址：</a:t>
            </a:r>
            <a:r>
              <a:rPr lang="en-US" sz="2400" b="1" dirty="0" err="1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https</a:t>
            </a:r>
            <a:r>
              <a:rPr lang="en-US" sz="2400" b="1" dirty="0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://github.com/faster-maker/SE-NetSec-2026-YuWangZheLianMeng</a:t>
            </a:r>
            <a:endParaRPr lang="en-US" sz="2400" b="1" i="0" u="none" strike="noStrike" dirty="0">
              <a:solidFill>
                <a:srgbClr val="0D0D0D"/>
              </a:solidFill>
              <a:effectLst>
                <a:outerShdw blurRad="38100" dist="25400" dir="5400000" algn="tl" rotWithShape="0">
                  <a:srgbClr val="000000">
                    <a:alpha val="25000"/>
                  </a:srgbClr>
                </a:outerShdw>
              </a:effectLst>
              <a:latin typeface="微软雅黑"/>
              <a:ea typeface="微软雅黑"/>
              <a:cs typeface="微软雅黑"/>
              <a:sym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3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52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457200" indent="-342900"/>
            <a:lvl2pPr marL="914400" indent="-342900"/>
            <a:lvl3pPr marL="1371600" indent="-342900"/>
            <a:lvl4pPr marL="1828800" indent="-342900"/>
            <a:lvl5pPr marL="2286000" indent="-342900"/>
            <a:lvl6pPr marL="2743200" indent="-342900"/>
            <a:lvl7pPr marL="3200400" indent="-342900"/>
            <a:lvl8pPr marL="3657600" indent="-342900"/>
            <a:lvl9pPr marL="4114800" indent="-342900"/>
          </a:lstStyle>
          <a:p>
            <a:pPr marL="457200" indent="-342900" algn="l">
              <a:lnSpc>
                <a:spcPct val="91666"/>
              </a:lnSpc>
              <a:spcBef>
                <a:spcPts val="1000"/>
              </a:spcBef>
              <a:buClr>
                <a:srgbClr val="0D0D0D"/>
              </a:buClr>
              <a:buChar char="•"/>
              <a:defRPr/>
            </a:pPr>
            <a:r>
              <a:rPr lang="en-US" sz="27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软件需求及创意</a:t>
            </a:r>
            <a:endParaRPr lang="en-US" sz="1100"/>
          </a:p>
          <a:p>
            <a:pPr marL="457200" indent="-342900" algn="l">
              <a:lnSpc>
                <a:spcPct val="91666"/>
              </a:lnSpc>
              <a:spcBef>
                <a:spcPts val="1000"/>
              </a:spcBef>
              <a:buClr>
                <a:srgbClr val="0D0D0D"/>
              </a:buClr>
              <a:buChar char="•"/>
            </a:pPr>
            <a:r>
              <a:rPr lang="en-US" sz="27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开发技术与工具</a:t>
            </a:r>
          </a:p>
          <a:p>
            <a:pPr marL="457200" indent="-342900" algn="l">
              <a:lnSpc>
                <a:spcPct val="91666"/>
              </a:lnSpc>
              <a:spcBef>
                <a:spcPts val="1000"/>
              </a:spcBef>
              <a:buClr>
                <a:srgbClr val="0D0D0D"/>
              </a:buClr>
              <a:buChar char="•"/>
            </a:pPr>
            <a:r>
              <a:rPr lang="en-US" sz="27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代码编写与测试</a:t>
            </a:r>
          </a:p>
          <a:p>
            <a:pPr marL="457200" indent="-342900" algn="l">
              <a:lnSpc>
                <a:spcPct val="91666"/>
              </a:lnSpc>
              <a:spcBef>
                <a:spcPts val="1000"/>
              </a:spcBef>
              <a:buClr>
                <a:srgbClr val="0D0D0D"/>
              </a:buClr>
              <a:buChar char="•"/>
            </a:pPr>
            <a:r>
              <a:rPr lang="en-US" sz="27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系统部署与运行</a:t>
            </a:r>
          </a:p>
          <a:p>
            <a:pPr marL="457200" indent="-342900" algn="l">
              <a:lnSpc>
                <a:spcPct val="91666"/>
              </a:lnSpc>
              <a:spcBef>
                <a:spcPts val="1000"/>
              </a:spcBef>
              <a:buClr>
                <a:srgbClr val="0D0D0D"/>
              </a:buClr>
              <a:buChar char="•"/>
            </a:pPr>
            <a:r>
              <a:rPr lang="en-US" sz="27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团队成员分工与贡献</a:t>
            </a:r>
          </a:p>
          <a:p>
            <a:pPr marL="457200" indent="-342900" algn="l">
              <a:lnSpc>
                <a:spcPct val="91666"/>
              </a:lnSpc>
              <a:spcBef>
                <a:spcPts val="1000"/>
              </a:spcBef>
              <a:buClr>
                <a:srgbClr val="0D0D0D"/>
              </a:buClr>
              <a:buChar char="•"/>
            </a:pPr>
            <a:r>
              <a:rPr lang="en-US" sz="27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总结与展望</a:t>
            </a:r>
          </a:p>
        </p:txBody>
      </p:sp>
      <p:sp>
        <p:nvSpPr>
          <p:cNvPr id="7" name="AutoShape 7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汇报内容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3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52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27000" tIns="101600" rIns="127000" bIns="101600" rtlCol="0" anchor="t" anchorCtr="0"/>
          <a:lstStyle/>
          <a:p>
            <a:pPr indent="0" algn="l">
              <a:lnSpc>
                <a:spcPct val="108333"/>
              </a:lnSpc>
              <a:spcBef>
                <a:spcPct val="0"/>
              </a:spcBef>
              <a:spcAft>
                <a:spcPts val="1200"/>
              </a:spcAft>
              <a:defRPr/>
            </a:pPr>
            <a:r>
              <a:rPr lang="en-US" sz="22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▍现实问题：直击高危安全漏洞</a:t>
            </a: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4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代码中硬编码密钥、密码、凭证等敏感信息泄露，是OWASP Top 10中的高频高危漏洞，极易导致系统被非法入侵，严重威胁数据与服务安全。本项目旨在解决这一行业普遍痛点，为代码安全提供基础保障。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  <a:spcAft>
                <a:spcPts val="1200"/>
              </a:spcAft>
            </a:pPr>
            <a:r>
              <a:rPr lang="en-US" sz="22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▍核心功能：自动化敏感信息检测</a:t>
            </a: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4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针对Python代码库进行静态扫描，精准识别并定位硬编码的API密钥、数据库密码、Access Token等敏感信息，自动分析风险等级，并输出可落地的修复建议，帮助开发人员快速消除隐患。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22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▍需求创意：体验与效率的双重升级</a:t>
            </a:r>
          </a:p>
          <a:p>
            <a:pPr marL="203200" indent="0" algn="l">
              <a:lnSpc>
                <a:spcPct val="108333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en-US" sz="1300" b="1" i="0" u="none" strike="noStrike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无缝集成：</a:t>
            </a:r>
            <a:r>
              <a:rPr lang="en-US" sz="1300" b="0" i="0" u="none" strike="noStrike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无需复杂参数配置，通过命令行一键启动扫描，降低使用门槛。</a:t>
            </a:r>
          </a:p>
          <a:p>
            <a:pPr marL="203200" indent="0" algn="l">
              <a:lnSpc>
                <a:spcPct val="108333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en-US" sz="1300" b="1" i="0" u="none" strike="noStrike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可视化输出：</a:t>
            </a:r>
            <a:r>
              <a:rPr lang="en-US" sz="1300" b="0" i="0" u="none" strike="noStrike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终端输出支持彩色高亮不同风险等级，扫描结果直观易读。</a:t>
            </a:r>
          </a:p>
          <a:p>
            <a:pPr marL="203200" indent="0" algn="l">
              <a:lnSpc>
                <a:spcPct val="108333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en-US" sz="1300" b="1" i="0" u="none" strike="noStrike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自动化审计：</a:t>
            </a:r>
            <a:r>
              <a:rPr lang="en-US" sz="1300" b="0" i="0" u="none" strike="noStrike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扫描报告自动保存为带时间戳的文本文件，便于安全审计与历史追溯。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软件需求与创意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3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1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397000"/>
            <a:ext cx="8255000" cy="4445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spcBef>
                <a:spcPts val="500"/>
              </a:spcBef>
              <a:spcAft>
                <a:spcPts val="1000"/>
              </a:spcAft>
              <a:defRPr/>
            </a:pPr>
            <a:r>
              <a:rPr lang="en-US" sz="20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 介绍项目实现了哪些功能</a:t>
            </a:r>
            <a:endParaRPr lang="en-US" sz="1100"/>
          </a:p>
          <a:p>
            <a:pPr indent="0" algn="l">
              <a:lnSpc>
                <a:spcPct val="108333"/>
              </a:lnSpc>
              <a:spcAft>
                <a:spcPts val="1500"/>
              </a:spcAft>
            </a:pPr>
            <a:r>
              <a:rPr lang="en-US" sz="13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 支持单文件、多文件及目录递归扫描，满足多样化代码扫描需求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 终端输出高亮展示：高危（红色）、中危（黄色）、低危（绿色），风险等级一目了然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 扫描结果自动归档至 output 目录，支持离线查阅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 内置性能评估模块，自动统计扫描耗时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 实现 pytest 单元测试全覆盖，保障核心逻辑稳定性</a:t>
            </a:r>
          </a:p>
          <a:p>
            <a:pPr indent="0" algn="l">
              <a:lnSpc>
                <a:spcPct val="125000"/>
              </a:lnSpc>
              <a:spcBef>
                <a:spcPts val="500"/>
              </a:spcBef>
              <a:spcAft>
                <a:spcPts val="1000"/>
              </a:spcAft>
            </a:pPr>
            <a:r>
              <a:rPr lang="en-US" sz="20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 核心场景是否实现？</a:t>
            </a:r>
          </a:p>
          <a:p>
            <a:pPr indent="0" algn="l">
              <a:lnSpc>
                <a:spcPct val="108333"/>
              </a:lnSpc>
              <a:spcAft>
                <a:spcPts val="1500"/>
              </a:spcAft>
            </a:pPr>
            <a:r>
              <a:rPr lang="en-US" sz="13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已完整实现。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用户仅需在命令行输入指令</a:t>
            </a:r>
            <a:r>
              <a:rPr lang="en-US" sz="1300" b="0" i="0" u="none" strike="noStrike">
                <a:solidFill>
                  <a:srgbClr val="D97706"/>
                </a:solidFill>
                <a:latin typeface="Courier New"/>
                <a:ea typeface="Courier New"/>
                <a:cs typeface="Courier New"/>
                <a:sym typeface="Courier New"/>
              </a:rPr>
              <a:t>`bindit scan [文件/目录]`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，即可一键启动，自动完成从代码扫描、风险识别到最终报告生成的全流程闭环。</a:t>
            </a:r>
          </a:p>
          <a:p>
            <a:pPr indent="0" algn="l">
              <a:lnSpc>
                <a:spcPct val="125000"/>
              </a:lnSpc>
              <a:spcBef>
                <a:spcPts val="500"/>
              </a:spcBef>
              <a:spcAft>
                <a:spcPts val="1000"/>
              </a:spcAft>
            </a:pPr>
            <a:r>
              <a:rPr lang="en-US" sz="20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 从用户角度看验收条件是什么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 精准识别：准确发现代码中的硬编码密钥、密码、Token 等敏感信息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 分级清晰：严格区分高/中/低风险等级，便于优先处理严重问题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 报告完整：生成的报告需包含漏洞详情、代码位置、具体代码片段及修复建议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 运行稳定：全流程无崩溃、无报错，适配主流开发环境与文件格式</a:t>
            </a:r>
          </a:p>
        </p:txBody>
      </p:sp>
      <p:sp>
        <p:nvSpPr>
          <p:cNvPr id="7" name="AutoShape 7"/>
          <p:cNvSpPr/>
          <p:nvPr/>
        </p:nvSpPr>
        <p:spPr>
          <a:xfrm>
            <a:off x="457200" y="317500"/>
            <a:ext cx="82296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MVP（最小可行产品）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3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52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spcBef>
                <a:spcPct val="0"/>
              </a:spcBef>
              <a:spcAft>
                <a:spcPts val="800"/>
              </a:spcAft>
              <a:defRPr/>
            </a:pPr>
            <a:r>
              <a:rPr lang="en-US" sz="2400" b="1" i="0" u="none" strike="noStrike" dirty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</a:t>
            </a:r>
            <a:r>
              <a:rPr lang="en-US" sz="2400" b="1" i="0" u="none" strike="noStrike" dirty="0" err="1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软件开发技术</a:t>
            </a:r>
            <a:endParaRPr lang="en-US" sz="1100" dirty="0"/>
          </a:p>
          <a:p>
            <a:pPr marL="190500" indent="0" algn="l">
              <a:lnSpc>
                <a:spcPct val="108333"/>
              </a:lnSpc>
              <a:spcBef>
                <a:spcPts val="400"/>
              </a:spcBef>
              <a:spcAft>
                <a:spcPts val="800"/>
              </a:spcAft>
            </a:pPr>
            <a: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项目基于代码静态分析领域进行构建，融合了语法解析与模式识别等基础技术，旨在实现对代码中敏感信息的自动化检测与定位。</a:t>
            </a:r>
            <a:r>
              <a:rPr lang="en-US" sz="1600" b="1" i="0" u="none" strike="noStrike" dirty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核心技术为AST（抽象语法树）分析技术，通过解析Python代码的语法结构构建语法树，实现对敏感信息的精准检测。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2400" b="1" i="0" u="none" strike="noStrike" dirty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</a:t>
            </a:r>
            <a:r>
              <a:rPr lang="en-US" sz="2400" b="1" i="0" u="none" strike="noStrike" dirty="0" err="1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编程语言</a:t>
            </a:r>
            <a:endParaRPr lang="en-US" sz="2400" b="1" i="0" u="none" strike="noStrike" dirty="0">
              <a:solidFill>
                <a:srgbClr val="156D8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190500" indent="0" algn="l">
              <a:lnSpc>
                <a:spcPct val="108333"/>
              </a:lnSpc>
              <a:spcBef>
                <a:spcPts val="400"/>
              </a:spcBef>
              <a:spcAft>
                <a:spcPts val="800"/>
              </a:spcAft>
            </a:pPr>
            <a:r>
              <a:rPr lang="en-US" sz="16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综合考量开发效率、语言生态及代码解析的便捷性，本项目选定单语言开发方案</a:t>
            </a:r>
            <a: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190500" indent="0" algn="l">
              <a:lnSpc>
                <a:spcPct val="108333"/>
              </a:lnSpc>
              <a:spcBef>
                <a:spcPct val="0"/>
              </a:spcBef>
              <a:spcAft>
                <a:spcPts val="1200"/>
              </a:spcAft>
            </a:pPr>
            <a:r>
              <a:rPr lang="en-US" sz="16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主要开发语言：</a:t>
            </a:r>
            <a:r>
              <a:rPr lang="en-US" sz="1700" b="1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Python</a:t>
            </a:r>
            <a:endParaRPr lang="en-US" sz="1700" b="1" i="0" u="none" strike="noStrike" dirty="0">
              <a:solidFill>
                <a:srgbClr val="0D0D0D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indent="0" algn="l">
              <a:lnSpc>
                <a:spcPct val="108333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2400" b="1" i="0" u="none" strike="noStrike" dirty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</a:t>
            </a:r>
            <a:r>
              <a:rPr lang="en-US" sz="2400" b="1" i="0" u="none" strike="noStrike" dirty="0" err="1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软件工具与依赖</a:t>
            </a:r>
            <a:endParaRPr lang="en-US" sz="2400" b="1" i="0" u="none" strike="noStrike" dirty="0">
              <a:solidFill>
                <a:srgbClr val="156D8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190500" indent="0" algn="l">
              <a:lnSpc>
                <a:spcPct val="116666"/>
              </a:lnSpc>
              <a:spcBef>
                <a:spcPts val="400"/>
              </a:spcBef>
            </a:pPr>
            <a:r>
              <a:rPr lang="en-US" sz="1500" b="1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开发与协作：</a:t>
            </a:r>
            <a:r>
              <a:rPr lang="en-US" sz="15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Visual</a:t>
            </a:r>
            <a:r>
              <a:rPr lang="en-US" sz="15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 Studio Code (</a:t>
            </a:r>
            <a:r>
              <a:rPr lang="en-US" sz="15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代码编辑器</a:t>
            </a:r>
            <a:r>
              <a:rPr lang="en-US" sz="15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)、Git &amp; GitHub (</a:t>
            </a:r>
            <a:r>
              <a:rPr lang="en-US" sz="15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版本控制与代码托管</a:t>
            </a:r>
            <a:r>
              <a:rPr lang="en-US" sz="15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)</a:t>
            </a:r>
            <a: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500" b="1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测试框架：</a:t>
            </a:r>
            <a:r>
              <a:rPr lang="en-US" sz="15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pytest</a:t>
            </a:r>
            <a:r>
              <a:rPr lang="en-US" sz="15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 (</a:t>
            </a:r>
            <a:r>
              <a:rPr lang="en-US" sz="15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单元测试工具，保障代码质量与稳定性</a:t>
            </a:r>
            <a:r>
              <a:rPr lang="en-US" sz="15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)</a:t>
            </a:r>
            <a: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500" b="1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核心依赖库：</a:t>
            </a:r>
            <a:r>
              <a:rPr lang="en-US" sz="15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Bandit</a:t>
            </a:r>
            <a:r>
              <a:rPr lang="en-US" sz="15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 (</a:t>
            </a:r>
            <a:r>
              <a:rPr lang="en-US" sz="15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代码安全扫描库</a:t>
            </a:r>
            <a:r>
              <a:rPr lang="en-US" sz="15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)、Jinja2 (</a:t>
            </a:r>
            <a:r>
              <a:rPr lang="en-US" sz="15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模板渲染引擎库</a:t>
            </a:r>
            <a:r>
              <a:rPr lang="en-US" sz="15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)</a:t>
            </a:r>
          </a:p>
        </p:txBody>
      </p:sp>
      <p:sp>
        <p:nvSpPr>
          <p:cNvPr id="7" name="AutoShape 7"/>
          <p:cNvSpPr/>
          <p:nvPr/>
        </p:nvSpPr>
        <p:spPr>
          <a:xfrm>
            <a:off x="8394700" y="6413500"/>
            <a:ext cx="6223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开发技术与工具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3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52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279400" indent="-279400" algn="l">
              <a:lnSpc>
                <a:spcPct val="100000"/>
              </a:lnSpc>
              <a:spcBef>
                <a:spcPts val="800"/>
              </a:spcBef>
              <a:buClr>
                <a:srgbClr val="156D83"/>
              </a:buClr>
              <a:buChar char="•"/>
              <a:defRPr/>
            </a:pPr>
            <a:r>
              <a:rPr lang="en-US" sz="22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▍代码组织结构</a:t>
            </a:r>
            <a:endParaRPr lang="en-US" sz="1100"/>
          </a:p>
          <a:p>
            <a:pPr marL="165100" indent="-165100" algn="l">
              <a:lnSpc>
                <a:spcPct val="100000"/>
              </a:lnSpc>
              <a:spcBef>
                <a:spcPts val="400"/>
              </a:spcBef>
              <a:buClr>
                <a:srgbClr val="505050"/>
              </a:buClr>
              <a:buChar char="•"/>
            </a:pPr>
            <a:r>
              <a:rPr lang="en-US" sz="1300" b="0" i="0" u="none" strike="noStrike">
                <a:solidFill>
                  <a:srgbClr val="50505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bandit_test/</a:t>
            </a:r>
            <a:r>
              <a:rPr lang="en-US" sz="16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300" b="0" i="0" u="none" strike="noStrike">
                <a:solidFill>
                  <a:srgbClr val="50505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├── output/ (自动保存扫描报告) ├── examples/ (测试样本文件)</a:t>
            </a:r>
            <a:r>
              <a:rPr lang="en-US" sz="16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300" b="0" i="0" u="none" strike="noStrike">
                <a:solidFill>
                  <a:srgbClr val="50505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├── src/bindit_plugin/</a:t>
            </a:r>
            <a:r>
              <a:rPr lang="en-US" sz="16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300" b="0" i="0" u="none" strike="noStrike">
                <a:solidFill>
                  <a:srgbClr val="50505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│ ├── cli.py (入口/参数) │ ├── scanner.py (扫描核心) │ ├── rules.py (规则定义) │ ├── models.py (数据模型)</a:t>
            </a:r>
            <a:r>
              <a:rPr lang="en-US" sz="16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300" b="0" i="0" u="none" strike="noStrike">
                <a:solidFill>
                  <a:srgbClr val="50505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└── tests/ (单元测试代码)</a:t>
            </a:r>
          </a:p>
          <a:p>
            <a:pPr marL="279400" indent="-279400" algn="l">
              <a:lnSpc>
                <a:spcPct val="100000"/>
              </a:lnSpc>
              <a:spcBef>
                <a:spcPts val="1200"/>
              </a:spcBef>
              <a:buClr>
                <a:srgbClr val="156D83"/>
              </a:buClr>
              <a:buChar char="•"/>
            </a:pPr>
            <a:r>
              <a:rPr lang="en-US" sz="22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▍程序代码量</a:t>
            </a:r>
          </a:p>
          <a:p>
            <a:pPr marL="177800" indent="-177800" algn="l">
              <a:lnSpc>
                <a:spcPct val="108333"/>
              </a:lnSpc>
              <a:spcBef>
                <a:spcPts val="400"/>
              </a:spcBef>
              <a:buClr>
                <a:srgbClr val="333333"/>
              </a:buClr>
              <a:buChar char="•"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独立编写：</a:t>
            </a: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实现核心业务逻辑，约500行有效代码，结构精简。</a:t>
            </a:r>
            <a:r>
              <a:rPr lang="en-US" sz="16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开源依赖：</a:t>
            </a: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基于 Bandit 库的 AST 静态语法解析能力进行二次开发，减少重复造轮子成本。</a:t>
            </a:r>
          </a:p>
          <a:p>
            <a:pPr marL="279400" indent="-279400" algn="l">
              <a:lnSpc>
                <a:spcPct val="100000"/>
              </a:lnSpc>
              <a:spcBef>
                <a:spcPts val="1200"/>
              </a:spcBef>
              <a:buClr>
                <a:srgbClr val="156D83"/>
              </a:buClr>
              <a:buChar char="•"/>
            </a:pPr>
            <a:r>
              <a:rPr lang="en-US" sz="22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▍编码规范与协作</a:t>
            </a:r>
          </a:p>
          <a:p>
            <a:pPr marL="177800" indent="-177800" algn="l">
              <a:lnSpc>
                <a:spcPct val="108333"/>
              </a:lnSpc>
              <a:spcBef>
                <a:spcPts val="400"/>
              </a:spcBef>
              <a:buClr>
                <a:srgbClr val="333333"/>
              </a:buClr>
              <a:buChar char="•"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代码风格：</a:t>
            </a: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全员严格遵循</a:t>
            </a:r>
            <a:r>
              <a:rPr lang="en-US" sz="1400" b="0" i="0" u="none" strike="noStrike">
                <a:solidFill>
                  <a:srgbClr val="C8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PEP8</a:t>
            </a: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标准，统一缩进、命名、注释规范，提升可读性。</a:t>
            </a:r>
            <a:r>
              <a:rPr lang="en-US" sz="16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sz="16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团队协作：</a:t>
            </a: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引入</a:t>
            </a:r>
            <a:r>
              <a:rPr lang="en-US" sz="1400" b="0" i="0" u="none" strike="noStrike">
                <a:solidFill>
                  <a:srgbClr val="C832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.editorconfig</a:t>
            </a: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配置文件，在不同编辑器/IDE 中自动统一代码格式，避免格式冲突。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代码编写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3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52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2pPr marL="520700" indent="-203200"/>
            <a:lvl3pPr marL="977900" indent="-203200"/>
            <a:lvl4pPr marL="1435100" indent="-203200"/>
            <a:lvl5pPr marL="1892300" indent="-203200"/>
            <a:lvl6pPr marL="2349500" indent="-203200"/>
            <a:lvl7pPr marL="2806700" indent="-203200"/>
            <a:lvl8pPr marL="3263900" indent="-203200"/>
            <a:lvl9pPr marL="3721100" indent="-203200"/>
          </a:lstStyle>
          <a:p>
            <a:pPr marL="304800" indent="-304800" algn="l">
              <a:lnSpc>
                <a:spcPct val="91666"/>
              </a:lnSpc>
              <a:spcBef>
                <a:spcPts val="400"/>
              </a:spcBef>
              <a:buClr>
                <a:srgbClr val="156D83"/>
              </a:buClr>
              <a:buChar char="•"/>
              <a:defRPr/>
            </a:pPr>
            <a:r>
              <a:rPr lang="en-US" sz="2800" b="1" i="0" u="none" strike="noStrike" dirty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▌ </a:t>
            </a:r>
            <a:r>
              <a:rPr lang="en-US" sz="2800" b="1" i="0" u="none" strike="noStrike" dirty="0" err="1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开展了哪些测试</a:t>
            </a:r>
            <a:endParaRPr lang="en-US" sz="1200" dirty="0"/>
          </a:p>
          <a:p>
            <a:pPr marL="520700" lvl="1" indent="-203200" algn="l">
              <a:lnSpc>
                <a:spcPct val="91666"/>
              </a:lnSpc>
              <a:buClr>
                <a:srgbClr val="0D0D0D"/>
              </a:buClr>
              <a:buChar char="○"/>
            </a:pPr>
            <a:r>
              <a:rPr lang="en-US" sz="18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• </a:t>
            </a:r>
            <a:r>
              <a:rPr lang="en-US" sz="18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对核心模块开展了</a:t>
            </a:r>
            <a:r>
              <a:rPr lang="en-US" sz="1800" b="1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单元测试</a:t>
            </a:r>
            <a:r>
              <a:rPr lang="en-US" sz="18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：使用pytest对扫描器核心功能进行全面覆盖</a:t>
            </a:r>
            <a:r>
              <a:rPr lang="en-US" sz="18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520700" lvl="1" indent="-203200" algn="l">
              <a:lnSpc>
                <a:spcPct val="91666"/>
              </a:lnSpc>
              <a:buClr>
                <a:srgbClr val="0D0D0D"/>
              </a:buClr>
              <a:buChar char="○"/>
            </a:pPr>
            <a:r>
              <a:rPr lang="en-US" sz="18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• </a:t>
            </a:r>
            <a:r>
              <a:rPr lang="en-US" sz="18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对整体功能开展了</a:t>
            </a:r>
            <a:r>
              <a:rPr lang="en-US" sz="1800" b="1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确认测试</a:t>
            </a:r>
            <a:r>
              <a:rPr lang="en-US" sz="18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：验证系统功能是否符合预期设计目标</a:t>
            </a:r>
            <a:r>
              <a:rPr lang="en-US" sz="18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304800" indent="-304800" algn="l">
              <a:lnSpc>
                <a:spcPct val="91666"/>
              </a:lnSpc>
              <a:spcBef>
                <a:spcPts val="800"/>
              </a:spcBef>
              <a:buClr>
                <a:srgbClr val="156D83"/>
              </a:buClr>
              <a:buChar char="•"/>
            </a:pPr>
            <a:r>
              <a:rPr lang="en-US" sz="2800" b="1" i="0" u="none" strike="noStrike" dirty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▌ </a:t>
            </a:r>
            <a:r>
              <a:rPr lang="en-US" sz="2800" b="1" i="0" u="none" strike="noStrike" dirty="0" err="1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测试用例与结果</a:t>
            </a:r>
            <a:endParaRPr lang="en-US" sz="2800" b="1" i="0" u="none" strike="noStrike" dirty="0">
              <a:solidFill>
                <a:srgbClr val="156D8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508000" lvl="1" indent="-190500" algn="l">
              <a:lnSpc>
                <a:spcPct val="150000"/>
              </a:lnSpc>
              <a:buClr>
                <a:srgbClr val="0D0D0D"/>
              </a:buClr>
              <a:buChar char="○"/>
            </a:pPr>
            <a: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en-US" sz="1600" b="1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核心用例：</a:t>
            </a:r>
            <a: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1.扫描文件正常返回报告；2.漏洞规则有效识别风险；3.高危/中/低风险分级准确；4.空文件异常处理不报错；5.多文件并发扫描功能稳定。</a:t>
            </a:r>
          </a:p>
          <a:p>
            <a:pPr marL="508000" lvl="1" indent="-190500" algn="l">
              <a:lnSpc>
                <a:spcPct val="150000"/>
              </a:lnSpc>
              <a:buClr>
                <a:srgbClr val="0D0D0D"/>
              </a:buClr>
              <a:buChar char="○"/>
            </a:pPr>
            <a: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en-US" sz="1600" b="1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最终结果：</a:t>
            </a:r>
            <a: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5个核心测试用例</a:t>
            </a:r>
            <a:r>
              <a:rPr lang="en-US" sz="1600" b="1" i="0" u="none" strike="noStrike" dirty="0">
                <a:solidFill>
                  <a:srgbClr val="22C55E"/>
                </a:solidFill>
                <a:latin typeface="微软雅黑"/>
                <a:ea typeface="微软雅黑"/>
                <a:cs typeface="微软雅黑"/>
                <a:sym typeface="微软雅黑"/>
              </a:rPr>
              <a:t>全部通过 (PASSED)</a:t>
            </a:r>
            <a: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sz="16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功能逻辑验证无缺陷</a:t>
            </a:r>
            <a: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304800" indent="-304800" algn="l">
              <a:lnSpc>
                <a:spcPct val="150000"/>
              </a:lnSpc>
              <a:spcBef>
                <a:spcPts val="800"/>
              </a:spcBef>
              <a:buClr>
                <a:srgbClr val="156D83"/>
              </a:buClr>
              <a:buChar char="•"/>
            </a:pPr>
            <a:r>
              <a:rPr lang="en-US" sz="2800" b="1" i="0" u="none" strike="noStrike" dirty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▌ </a:t>
            </a:r>
            <a:r>
              <a:rPr lang="en-US" sz="2800" b="1" i="0" u="none" strike="noStrike" dirty="0" err="1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测试过程与演示</a:t>
            </a:r>
            <a:endParaRPr lang="en-US" sz="2800" b="1" i="0" u="none" strike="noStrike" dirty="0">
              <a:solidFill>
                <a:srgbClr val="156D8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508000" lvl="1" indent="-190500" algn="l">
              <a:lnSpc>
                <a:spcPct val="150000"/>
              </a:lnSpc>
              <a:buClr>
                <a:srgbClr val="0D0D0D"/>
              </a:buClr>
              <a:buChar char="○"/>
            </a:pPr>
            <a: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•</a:t>
            </a:r>
            <a:r>
              <a:rPr lang="en-US" sz="1600" b="1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执行过程：</a:t>
            </a:r>
            <a:r>
              <a:rPr lang="en-US" sz="16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编写pytest自动化脚本覆盖核心场景，通过终端命令</a:t>
            </a:r>
            <a:r>
              <a:rPr lang="en-US" sz="1600" b="0" i="0" u="none" strike="noStrike" dirty="0" err="1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`pytest</a:t>
            </a:r>
            <a:r>
              <a:rPr lang="en-US" sz="1600" b="0" i="0" u="none" strike="noStrike" dirty="0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 tests/ -</a:t>
            </a:r>
            <a:r>
              <a:rPr lang="en-US" sz="1600" b="0" i="0" u="none" strike="noStrike" dirty="0" err="1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v`</a:t>
            </a:r>
            <a:r>
              <a:rPr lang="en-US" sz="1600" b="0" i="0" u="none" strike="noStrike" dirty="0" err="1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触发批量测试</a:t>
            </a:r>
            <a:r>
              <a:rPr lang="en-US" sz="1600" b="0" i="0" u="none" strike="noStrike" dirty="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317500" lvl="1" indent="0" algn="l">
              <a:lnSpc>
                <a:spcPct val="91666"/>
              </a:lnSpc>
              <a:buClr>
                <a:srgbClr val="0D0D0D"/>
              </a:buClr>
            </a:pPr>
            <a:endParaRPr lang="en-US" sz="1500" b="0" i="0" u="none" strike="noStrike" dirty="0">
              <a:solidFill>
                <a:srgbClr val="0D0D0D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软件测试与质量保障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3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318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>
            <a:lvl1pPr marL="533400" indent="-228600"/>
            <a:lvl2pPr marL="990600" indent="-228600"/>
            <a:lvl3pPr marL="1447800" indent="-228600"/>
            <a:lvl4pPr marL="1905000" indent="-228600"/>
            <a:lvl5pPr marL="2362200" indent="-228600"/>
            <a:lvl6pPr marL="2819400" indent="-228600"/>
            <a:lvl7pPr marL="3276600" indent="-228600"/>
            <a:lvl8pPr marL="3733800" indent="-228600"/>
            <a:lvl9pPr marL="4191000" indent="-228600"/>
          </a:lstStyle>
          <a:p>
            <a:pPr marL="330200" indent="-330200" algn="l">
              <a:lnSpc>
                <a:spcPct val="100000"/>
              </a:lnSpc>
              <a:spcBef>
                <a:spcPts val="1000"/>
              </a:spcBef>
              <a:buClr>
                <a:srgbClr val="0D0D0D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▍ 运行和部署环境</a:t>
            </a:r>
            <a:endParaRPr lang="en-US" sz="1100"/>
          </a:p>
          <a:p>
            <a:pPr marL="533400" indent="-228600" algn="l">
              <a:lnSpc>
                <a:spcPct val="108333"/>
              </a:lnSpc>
              <a:spcBef>
                <a:spcPts val="800"/>
              </a:spcBef>
              <a:buClr>
                <a:srgbClr val="156D83"/>
              </a:buClr>
              <a:buChar char="•"/>
            </a:pPr>
            <a:r>
              <a:rPr lang="en-US" sz="18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● 环境要求：</a:t>
            </a:r>
            <a:r>
              <a:rPr lang="en-US" sz="16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纯 Python 项目，无需复杂服务器环境，仅需本地计算机支持。</a:t>
            </a:r>
          </a:p>
          <a:p>
            <a:pPr marL="533400" indent="-228600" algn="l">
              <a:lnSpc>
                <a:spcPct val="108333"/>
              </a:lnSpc>
              <a:spcBef>
                <a:spcPts val="600"/>
              </a:spcBef>
              <a:buClr>
                <a:srgbClr val="156D83"/>
              </a:buClr>
              <a:buChar char="•"/>
            </a:pPr>
            <a:r>
              <a:rPr lang="en-US" sz="18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● 安装依赖：</a:t>
            </a:r>
            <a:r>
              <a:rPr lang="en-US" sz="16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Python 3.8+ 版本，执行命令</a:t>
            </a:r>
            <a:r>
              <a:rPr lang="en-US" sz="1600" b="1" i="0" u="none" strike="noStrike">
                <a:solidFill>
                  <a:srgbClr val="C81E1E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-r requirements.txt</a:t>
            </a:r>
            <a:r>
              <a:rPr lang="en-US" sz="16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一键安装依赖库。</a:t>
            </a:r>
          </a:p>
          <a:p>
            <a:pPr marL="533400" indent="-228600" algn="l">
              <a:lnSpc>
                <a:spcPct val="108333"/>
              </a:lnSpc>
              <a:spcBef>
                <a:spcPts val="600"/>
              </a:spcBef>
              <a:buClr>
                <a:srgbClr val="156D83"/>
              </a:buClr>
              <a:buChar char="•"/>
            </a:pPr>
            <a:r>
              <a:rPr lang="en-US" sz="18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● 部署方式：</a:t>
            </a:r>
            <a:r>
              <a:rPr lang="en-US" sz="16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直接下载代码到本地目录运行，无需配置远程服务器。</a:t>
            </a:r>
          </a:p>
          <a:p>
            <a:pPr marL="330200" indent="-330200" algn="l">
              <a:lnSpc>
                <a:spcPct val="100000"/>
              </a:lnSpc>
              <a:spcBef>
                <a:spcPts val="2000"/>
              </a:spcBef>
              <a:buClr>
                <a:srgbClr val="0D0D0D"/>
              </a:buClr>
              <a:buChar char="•"/>
            </a:pPr>
            <a:r>
              <a:rPr lang="en-US" sz="26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▍ 软件系统运行演示</a:t>
            </a:r>
          </a:p>
          <a:p>
            <a:pPr marL="533400" indent="-228600" algn="l">
              <a:lnSpc>
                <a:spcPct val="108333"/>
              </a:lnSpc>
              <a:spcBef>
                <a:spcPts val="800"/>
              </a:spcBef>
              <a:buClr>
                <a:srgbClr val="156D83"/>
              </a:buClr>
              <a:buChar char="•"/>
            </a:pPr>
            <a:r>
              <a:rPr lang="en-US" sz="18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● 启动运行：</a:t>
            </a:r>
            <a:r>
              <a:rPr lang="en-US" sz="16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打开终端进入项目根目录，执行扫描命令：</a:t>
            </a:r>
            <a:r>
              <a:rPr lang="en-US" sz="1600" b="1" i="0" u="none" strike="noStrike">
                <a:solidFill>
                  <a:srgbClr val="C81E1E"/>
                </a:solidFill>
                <a:latin typeface="Courier New"/>
                <a:ea typeface="Courier New"/>
                <a:cs typeface="Courier New"/>
                <a:sym typeface="Courier New"/>
              </a:rPr>
              <a:t>bindit scan examples/data_process.py</a:t>
            </a:r>
          </a:p>
          <a:p>
            <a:pPr marL="533400" indent="-228600" algn="l">
              <a:lnSpc>
                <a:spcPct val="108333"/>
              </a:lnSpc>
              <a:spcBef>
                <a:spcPts val="600"/>
              </a:spcBef>
              <a:buClr>
                <a:srgbClr val="156D83"/>
              </a:buClr>
              <a:buChar char="•"/>
            </a:pPr>
            <a:r>
              <a:rPr lang="en-US" sz="1800" b="1" i="0" u="none" strike="noStrike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● 结果输出：</a:t>
            </a:r>
            <a:r>
              <a:rPr lang="en-US" sz="16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终端实时显示彩色高亮的代码扫描结果，系统会自动在项目的 output 目录下生成可视化的分析报告文件。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57200" y="279400"/>
            <a:ext cx="8229600" cy="1016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系统部署与运行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3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318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600" b="1" i="0" u="none" strike="noStrike" dirty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 </a:t>
            </a:r>
            <a:r>
              <a:rPr lang="en-US" sz="2600" b="1" i="0" u="none" strike="noStrike" dirty="0" err="1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分工与角色</a:t>
            </a:r>
            <a:endParaRPr lang="en-US" sz="1100" dirty="0"/>
          </a:p>
          <a:p>
            <a:pPr marL="20320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6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组长</a:t>
            </a:r>
            <a:r>
              <a:rPr lang="zh-CN" altLang="en-US" sz="1600" b="1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陈卓</a:t>
            </a:r>
            <a:r>
              <a:rPr lang="en-US" sz="16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负责项目架构设计、核心功能开发、技术指导与整体进度把控</a:t>
            </a:r>
            <a:endParaRPr lang="en-US" sz="1600" b="0" i="0" u="none" strike="noStrike" dirty="0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203200" indent="0" algn="l">
              <a:lnSpc>
                <a:spcPct val="116666"/>
              </a:lnSpc>
              <a:spcBef>
                <a:spcPts val="400"/>
              </a:spcBef>
            </a:pPr>
            <a:r>
              <a:rPr lang="en-US" sz="16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组员</a:t>
            </a:r>
            <a:r>
              <a:rPr lang="zh-CN" altLang="en-US" sz="16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赵玉迪</a:t>
            </a:r>
            <a:r>
              <a:rPr lang="en-US" sz="16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负责辅助核心功能开发、全流程功能测试、数据准确性验证</a:t>
            </a:r>
            <a:endParaRPr lang="en-US" sz="1600" b="0" i="0" u="none" strike="noStrike" dirty="0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203200" indent="0" algn="l">
              <a:lnSpc>
                <a:spcPct val="116666"/>
              </a:lnSpc>
              <a:spcBef>
                <a:spcPts val="400"/>
              </a:spcBef>
            </a:pPr>
            <a:r>
              <a:rPr lang="en-US" sz="16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组员</a:t>
            </a:r>
            <a:r>
              <a:rPr lang="zh-CN" altLang="en-US" sz="16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宾海燕</a:t>
            </a:r>
            <a:r>
              <a:rPr lang="en-US" sz="16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负责系统测试页面搭建、项目技术文档编写、成果报告整理</a:t>
            </a:r>
            <a:endParaRPr lang="en-US" sz="1600" b="0" i="0" u="none" strike="noStrike" dirty="0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indent="0" algn="l">
              <a:lnSpc>
                <a:spcPct val="100000"/>
              </a:lnSpc>
              <a:spcBef>
                <a:spcPts val="2000"/>
              </a:spcBef>
            </a:pPr>
            <a:r>
              <a:rPr lang="en-US" sz="2600" b="1" i="0" u="none" strike="noStrike" dirty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 </a:t>
            </a:r>
            <a:r>
              <a:rPr lang="en-US" sz="2600" b="1" i="0" u="none" strike="noStrike" dirty="0" err="1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关键贡献与交付</a:t>
            </a:r>
            <a:endParaRPr lang="en-US" sz="2600" b="1" i="0" u="none" strike="noStrike" dirty="0">
              <a:solidFill>
                <a:srgbClr val="156D8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20320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6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组长</a:t>
            </a:r>
            <a:r>
              <a:rPr lang="zh-CN" altLang="en-US" sz="16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陈卓</a:t>
            </a:r>
            <a:r>
              <a:rPr lang="en-US" sz="16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完成项目整体架构设计，独立实现扫描核心业务逻辑，完成性能评估模块与彩色输出功能开发，保障系统运行效率</a:t>
            </a:r>
            <a:r>
              <a:rPr lang="en-US" sz="1600" b="0" i="0" u="none" strike="noStrike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203200">
              <a:lnSpc>
                <a:spcPct val="116666"/>
              </a:lnSpc>
              <a:spcBef>
                <a:spcPts val="400"/>
              </a:spcBef>
            </a:pPr>
            <a:r>
              <a:rPr lang="en-US" sz="16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组员</a:t>
            </a:r>
            <a:r>
              <a:rPr lang="zh-CN" altLang="en-US" sz="1600" b="1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赵玉迪</a:t>
            </a:r>
            <a:r>
              <a:rPr lang="en-US" sz="16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sz="1600" b="0" i="0" u="none" strike="noStrike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协助实现文件上传与数据库记录逻辑，设计并执行了30+个功能测试用例，确保功能逻辑无误，输出测试结果分析表。</a:t>
            </a:r>
          </a:p>
          <a:p>
            <a:pPr marL="203200">
              <a:lnSpc>
                <a:spcPct val="116666"/>
              </a:lnSpc>
              <a:spcBef>
                <a:spcPts val="400"/>
              </a:spcBef>
            </a:pPr>
            <a:r>
              <a:rPr lang="en-US" sz="16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组员</a:t>
            </a:r>
            <a:r>
              <a:rPr lang="zh-CN" altLang="en-US" sz="1600" b="1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宾海燕</a:t>
            </a:r>
            <a:r>
              <a:rPr lang="en-US" sz="16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sz="1600" b="0" i="0" u="none" strike="noStrike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搭建所有功能测试页面，完成项目开发文档与用户手册编写，整理7天冲刺每日进度报告，输出最终汇报演示材料。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8394700" y="6413500"/>
            <a:ext cx="6223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团队成员分工与贡献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3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52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101600" rIns="88900" bIns="101600" rtlCol="0" anchor="t" anchorCtr="0"/>
          <a:lstStyle/>
          <a:p>
            <a:pPr indent="0" algn="l">
              <a:lnSpc>
                <a:spcPct val="108333"/>
              </a:lnSpc>
              <a:spcBef>
                <a:spcPts val="1000"/>
              </a:spcBef>
              <a:defRPr/>
            </a:pPr>
            <a:r>
              <a:rPr lang="en-US" sz="2400" b="1" i="0" u="none" strike="noStrike" dirty="0" smtClean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</a:t>
            </a:r>
            <a:r>
              <a:rPr lang="en-US" sz="2400" b="1" i="0" u="none" strike="noStrike" dirty="0" err="1" smtClean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总结</a:t>
            </a:r>
            <a:endParaRPr lang="en-US" sz="1100" dirty="0"/>
          </a:p>
          <a:p>
            <a:pPr marL="190500" indent="0" algn="l">
              <a:lnSpc>
                <a:spcPct val="116666"/>
              </a:lnSpc>
              <a:spcBef>
                <a:spcPts val="600"/>
              </a:spcBef>
            </a:pPr>
            <a:r>
              <a:rPr lang="en-US" sz="1600" b="1" i="0" u="none" strike="noStrike" dirty="0">
                <a:solidFill>
                  <a:srgbClr val="1F2937"/>
                </a:solidFill>
                <a:latin typeface="微软雅黑"/>
                <a:ea typeface="微软雅黑"/>
                <a:cs typeface="微软雅黑"/>
                <a:sym typeface="微软雅黑"/>
              </a:rPr>
              <a:t>收获与体会：</a:t>
            </a:r>
            <a:r>
              <a:rPr lang="en-US" sz="1400" b="0" i="0" u="none" strike="noStrike" dirty="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通过本次项目，我们深入理解了AST语法树分析技术，掌握了使用pytest进行单元测试的方法，同时在项目过程中，显著提升了团队内部的协作效率和复杂问题的分析解决能力。</a:t>
            </a:r>
          </a:p>
          <a:p>
            <a:pPr marL="19050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600" b="1" i="0" u="none" strike="noStrike" dirty="0">
                <a:solidFill>
                  <a:srgbClr val="1F2937"/>
                </a:solidFill>
                <a:latin typeface="微软雅黑"/>
                <a:ea typeface="微软雅黑"/>
                <a:cs typeface="微软雅黑"/>
                <a:sym typeface="微软雅黑"/>
              </a:rPr>
              <a:t>困难和问题：</a:t>
            </a:r>
            <a:r>
              <a:rPr lang="en-US" sz="1400" b="0" i="0" u="none" strike="noStrike" dirty="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项目初期，团队在理解Bandit插件API的设计逻辑和处理复杂正则匹配场景时遇到了技术瓶颈，但最终通过查阅官方文档、开展团队技术研讨的方式，逐一攻克了相关难题。</a:t>
            </a:r>
          </a:p>
          <a:p>
            <a:pPr indent="0" algn="l">
              <a:lnSpc>
                <a:spcPct val="108333"/>
              </a:lnSpc>
              <a:spcBef>
                <a:spcPts val="2000"/>
              </a:spcBef>
            </a:pPr>
            <a:r>
              <a:rPr lang="en-US" sz="2400" b="1" i="0" u="none" strike="noStrike" dirty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▍ </a:t>
            </a:r>
            <a:r>
              <a:rPr lang="zh-CN" altLang="en-US" sz="2400" b="1" dirty="0" smtClean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未来</a:t>
            </a:r>
            <a:r>
              <a:rPr lang="en-US" sz="2400" b="1" i="0" u="none" strike="noStrike" dirty="0" err="1" smtClean="0">
                <a:solidFill>
                  <a:srgbClr val="156D83"/>
                </a:solidFill>
                <a:latin typeface="微软雅黑"/>
                <a:ea typeface="微软雅黑"/>
                <a:cs typeface="微软雅黑"/>
                <a:sym typeface="微软雅黑"/>
              </a:rPr>
              <a:t>展望</a:t>
            </a:r>
            <a:endParaRPr lang="en-US" sz="2400" b="1" i="0" u="none" strike="noStrike" dirty="0">
              <a:solidFill>
                <a:srgbClr val="156D83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190500" indent="0" algn="l">
              <a:lnSpc>
                <a:spcPct val="125000"/>
              </a:lnSpc>
              <a:spcBef>
                <a:spcPts val="600"/>
              </a:spcBef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计划进一步扩展工具能力，实现以下核心目标</a:t>
            </a:r>
            <a:r>
              <a:rPr lang="en-US" sz="1400" b="0" i="0" u="none" strike="noStrike" dirty="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</a:p>
          <a:p>
            <a:pPr marL="317500" indent="0" algn="l">
              <a:lnSpc>
                <a:spcPct val="125000"/>
              </a:lnSpc>
              <a:spcBef>
                <a:spcPts val="400"/>
              </a:spcBef>
            </a:pPr>
            <a:r>
              <a:rPr lang="en-US" sz="1300" b="0" i="0" u="none" strike="noStrike" dirty="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多语言支持：新增对JavaScript、Java等主流开发语言的代码安全扫描能力</a:t>
            </a:r>
            <a:r>
              <a:rPr lang="en-US" sz="1300" b="0" i="0" u="none" strike="noStrike" dirty="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317500" indent="0" algn="l">
              <a:lnSpc>
                <a:spcPct val="125000"/>
              </a:lnSpc>
              <a:spcBef>
                <a:spcPts val="400"/>
              </a:spcBef>
            </a:pPr>
            <a:r>
              <a:rPr lang="en-US" sz="1300" b="0" i="0" u="none" strike="noStrike" dirty="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体验升级：开发可视化GUI图形界面，降低工具使用门槛，优化用户操作体验</a:t>
            </a:r>
            <a:r>
              <a:rPr lang="en-US" sz="1300" b="0" i="0" u="none" strike="noStrike" dirty="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317500" indent="0" algn="l">
              <a:lnSpc>
                <a:spcPct val="125000"/>
              </a:lnSpc>
              <a:spcBef>
                <a:spcPts val="400"/>
              </a:spcBef>
            </a:pPr>
            <a:r>
              <a:rPr lang="en-US" sz="1300" b="0" i="0" u="none" strike="noStrike" dirty="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流程集成：适配主流CI</a:t>
            </a:r>
            <a:r>
              <a:rPr lang="en-US" sz="1300" b="0" i="0" u="none" strike="noStrike" dirty="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CD流程，实现代码提交环节的自动化安全扫描与拦截</a:t>
            </a:r>
            <a:r>
              <a:rPr lang="en-US" sz="1300" b="0" i="0" u="none" strike="noStrike" dirty="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317500" indent="0" algn="l">
              <a:lnSpc>
                <a:spcPct val="125000"/>
              </a:lnSpc>
              <a:spcBef>
                <a:spcPts val="400"/>
              </a:spcBef>
            </a:pPr>
            <a:r>
              <a:rPr lang="en-US" sz="1300" b="0" i="0" u="none" strike="noStrike" dirty="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•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规则扩展：持续丰富漏洞检测规则库，覆盖更多高风险安全场景</a:t>
            </a:r>
            <a:r>
              <a:rPr lang="en-US" sz="1300" b="0" i="0" u="none" strike="noStrike" dirty="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8394700" y="6413500"/>
            <a:ext cx="6223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rPr>
              <a:t>总结与展望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700</Words>
  <Application>Microsoft Office PowerPoint</Application>
  <PresentationFormat>全屏显示(4:3)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Source Code Pro</vt:lpstr>
      <vt:lpstr>微软雅黑</vt:lpstr>
      <vt:lpstr>Arial</vt:lpstr>
      <vt:lpstr>Courier New</vt:lpstr>
      <vt:lpstr>Times New Roman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Administrator</cp:lastModifiedBy>
  <cp:revision>3</cp:revision>
  <dcterms:modified xsi:type="dcterms:W3CDTF">2026-05-19T02:14:30Z</dcterms:modified>
</cp:coreProperties>
</file>